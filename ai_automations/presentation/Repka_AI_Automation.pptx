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01 / ВИДЕНИЕ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Repka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От данных Odoo к понятным сигналам и управляемым действиям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6675120" cy="2487168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090672"/>
            <a:ext cx="603504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5FAFF"/>
                </a:solidFill>
                <a:latin typeface="Arial"/>
              </a:defRPr>
            </a:pPr>
            <a:r>
              <a:t>Меньше ручного поиска.</a:t>
            </a:r>
          </a:p>
          <a:p>
            <a:pPr algn="l">
              <a:spcAft>
                <a:spcPts val="600"/>
              </a:spcAft>
              <a:defRPr sz="3000" b="1">
                <a:solidFill>
                  <a:srgbClr val="F5FAFF"/>
                </a:solidFill>
                <a:latin typeface="Arial"/>
              </a:defRPr>
            </a:pPr>
            <a:r>
              <a:t>Больше времени на решения.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651760"/>
            <a:ext cx="3685032" cy="2487168"/>
          </a:xfrm>
          <a:prstGeom prst="roundRect">
            <a:avLst>
              <a:gd name="adj" fmla="val 14000"/>
            </a:avLst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063240" cy="1307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59DBD5"/>
                </a:solidFill>
                <a:latin typeface="Arial"/>
              </a:defRPr>
            </a:pPr>
            <a:r>
              <a:t>4 рабочих DEMO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59DBD5"/>
                </a:solidFill>
                <a:latin typeface="Arial"/>
              </a:defRPr>
            </a:pPr>
            <a:r>
              <a:t>19 идей для пилота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9BB5CC"/>
                </a:solidFill>
                <a:latin typeface="Arial"/>
              </a:defRPr>
            </a:pPr>
            <a:r>
              <a:t>Без подключений к production • без ML/LLM-обещаний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02 /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Ценные данные — разрозненные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Сегодня для ответа на простой вопрос приходится открывать несколько экранов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Менеджер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Собирает историю заказов клиента и ищет тех, кому стоит уделить внимание.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Логист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Сверяет статусы документов и выясняет, какой заказ требует проверки.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807208"/>
            <a:ext cx="64008" cy="347472"/>
          </a:xfrm>
          <a:prstGeom prst="rect">
            <a:avLst/>
          </a:prstGeom>
          <a:solidFill>
            <a:srgbClr val="FF8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Руководитель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Сопоставляет операционные сигналы без единой сводки.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03 / ВОЗМОЖНОСТЬ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От поиска к фокусной проверке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Автоматизируем подготовку контекста, не передаём машине право принимать решения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3410712" cy="265176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01  Собрать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2679191" cy="16916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История клиента, суммы, статусы — из согласованных источников.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578608"/>
            <a:ext cx="3410712" cy="265176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02  Объяснить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328415"/>
            <a:ext cx="2679191" cy="16916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Показать причину сигнала и исходные факты, не скрывая ограничений.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578608"/>
            <a:ext cx="3410712" cy="265176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03  Подтвердить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328415"/>
            <a:ext cx="2679191" cy="16916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Менеджер или логист проверяет факт и выбирает действие.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04 / ДАННЫЕ REPKA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Основа уже есть в структуре Odoo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Наличие моделей подтверждено кодом; полнота и качество реальных записей пока не подтверждены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5202936" cy="1499616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465429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Клиент + заказ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4471416" cy="53949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res.partner  /  ufs.base.order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578608"/>
            <a:ext cx="5294376" cy="1499616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79776"/>
            <a:ext cx="474573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Экспедирование + затраты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28415"/>
            <a:ext cx="4562856" cy="53949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ufs.forwarder.order  /  подзаказы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42816"/>
            <a:ext cx="5202936" cy="1499616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4471416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443983"/>
            <a:ext cx="465429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Документы + 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92624"/>
            <a:ext cx="4471416" cy="53949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ufs.transport.document  /  ufs.ai.document.check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242816"/>
            <a:ext cx="5294376" cy="1499616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4471416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43983"/>
            <a:ext cx="474573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Контекст платформы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92624"/>
            <a:ext cx="4562856" cy="53949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CRM  /  продажи  /  склад  /  закупки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05 /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Контролируемый контур автоматизации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Сегодня: автономные правила на синтетике. Следующий шаг: согласованная read-only интеграция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61488"/>
            <a:ext cx="2039112" cy="19202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035808"/>
            <a:ext cx="17007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9DBD5"/>
                </a:solidFill>
                <a:latin typeface="Arial"/>
              </a:defRPr>
            </a:pPr>
            <a:r>
              <a:t>Odoo / Repka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776472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BB5CC"/>
                </a:solidFill>
                <a:latin typeface="Arial"/>
              </a:defRPr>
            </a:pPr>
            <a:r>
              <a:t>Разрешённые поля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01568"/>
            <a:ext cx="2011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9C06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9232" y="2761488"/>
            <a:ext cx="2039112" cy="19202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3035808"/>
            <a:ext cx="17007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9DBD5"/>
                </a:solidFill>
                <a:latin typeface="Arial"/>
              </a:defRPr>
            </a:pPr>
            <a: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776472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BB5CC"/>
                </a:solidFill>
                <a:latin typeface="Arial"/>
              </a:defRPr>
            </a:pPr>
            <a:r>
              <a:t>Сейчас: правила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3401568"/>
            <a:ext cx="2011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9C06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8656" y="2761488"/>
            <a:ext cx="2039112" cy="19202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2392" y="3035808"/>
            <a:ext cx="17007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9DBD5"/>
                </a:solidFill>
                <a:latin typeface="Arial"/>
              </a:defRPr>
            </a:pPr>
            <a:r>
              <a:t>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3776472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BB5CC"/>
                </a:solidFill>
                <a:latin typeface="Arial"/>
              </a:defRPr>
            </a:pPr>
            <a:r>
              <a:t>Сигнал + причина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401568"/>
            <a:ext cx="2011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9C06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761488"/>
            <a:ext cx="2039112" cy="19202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5" y="3035808"/>
            <a:ext cx="17007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9DBD5"/>
                </a:solidFill>
                <a:latin typeface="Arial"/>
              </a:defRPr>
            </a:pPr>
            <a:r>
              <a:t>Процесс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5" y="3776472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BB5CC"/>
                </a:solidFill>
                <a:latin typeface="Arial"/>
              </a:defRPr>
            </a:pPr>
            <a:r>
              <a:t>Черновик / обзор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401568"/>
            <a:ext cx="2011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9C06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2761488"/>
            <a:ext cx="2039112" cy="19202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3035808"/>
            <a:ext cx="17007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9DBD5"/>
                </a:solidFill>
                <a:latin typeface="Arial"/>
              </a:defRPr>
            </a:pPr>
            <a:r>
              <a:t>Человек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776472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BB5CC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69848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5FAFF"/>
                </a:solidFill>
                <a:latin typeface="Arial"/>
              </a:defRPr>
            </a:pPr>
            <a:r>
              <a:t>Без прямого доступа к БД • проверка ACL • человек подтверждает последствия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06 /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Customer 360: кому уделить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Рабочий DEMO: понятное правило вместо недоказанного «скоринга вероятности»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23744"/>
            <a:ext cx="2788920" cy="1426464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2688336"/>
            <a:ext cx="23317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9C06D"/>
                </a:solidFill>
                <a:latin typeface="Arial"/>
              </a:defRPr>
            </a:pPr>
            <a:r>
              <a:t>149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346703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BB5CC"/>
                </a:solidFill>
                <a:latin typeface="Arial"/>
              </a:defRPr>
            </a:pPr>
            <a:r>
              <a:t>после последнего заказа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523744"/>
            <a:ext cx="7717536" cy="224028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13632" y="2752344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724912"/>
            <a:ext cx="716889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ООО Демо Север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273551"/>
            <a:ext cx="6986016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2 заказа • 1 неоплаченный • рекомендация: проверить необходимость контакта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056632"/>
            <a:ext cx="10789920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9BB5CC"/>
                </a:solidFill>
                <a:latin typeface="Arial"/>
              </a:defRPr>
            </a:pPr>
            <a:r>
              <a:t>Ввод → история перевозок     /     Расчёт → дни от последнего заказа     /     Выход → сигнал с причиной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07 / ПРОДАЖИ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Экономика заказа: увидеть отклонение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Рабочий DEMO: сравниваются только суммы прямых затрат в одной валюте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23744"/>
            <a:ext cx="2788920" cy="1426464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2688336"/>
            <a:ext cx="23317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8488"/>
                </a:solidFill>
                <a:latin typeface="Arial"/>
              </a:defRPr>
            </a:pPr>
            <a:r>
              <a:t>−600 BYN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346703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BB5CC"/>
                </a:solidFill>
                <a:latin typeface="Arial"/>
              </a:defRPr>
            </a:pPr>
            <a:r>
              <a:t>результат DEMO-101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523744"/>
            <a:ext cx="7717536" cy="224028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13632" y="2752344"/>
            <a:ext cx="64008" cy="347472"/>
          </a:xfrm>
          <a:prstGeom prst="rect">
            <a:avLst/>
          </a:prstGeom>
          <a:solidFill>
            <a:srgbClr val="FF8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724912"/>
            <a:ext cx="716889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Повод для финансовой проверки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273551"/>
            <a:ext cx="6986016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Выручка 5 000 BYN • прямые затраты 5 600 BYN • вывод: затраты выше выручки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0292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9BB5CC"/>
                </a:solidFill>
                <a:latin typeface="Arial"/>
              </a:defRPr>
            </a:pPr>
            <a:r>
              <a:t>Не бухгалтерская прибыль: налоги, косвенные расходы и курсы не рассчитаны.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08 / ДОКУМЕНТЫ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Пакет без слепых зон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Рабочий DEMO использует статусы проверок; не читает сканы и не заменяет OCR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14600"/>
            <a:ext cx="5212080" cy="251460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743200"/>
            <a:ext cx="64008" cy="347472"/>
          </a:xfrm>
          <a:prstGeom prst="rect">
            <a:avLst/>
          </a:prstGeom>
          <a:solidFill>
            <a:srgbClr val="FF8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15768"/>
            <a:ext cx="46634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Заказ DEMO-101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64408"/>
            <a:ext cx="4480560" cy="1554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CMR: blocked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Акт: отсутствует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14600"/>
            <a:ext cx="5248656" cy="251460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2743200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715768"/>
            <a:ext cx="470001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Следующее действие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64408"/>
            <a:ext cx="4517136" cy="1554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Проверить замечания и оригиналы документов с логистом.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276088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9BB5CC"/>
                </a:solidFill>
                <a:latin typeface="Arial"/>
              </a:defRPr>
            </a:pPr>
            <a:r>
              <a:t>Даже completed — только сигнал к проверке, а не юридическое заключение.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09 / РУКОВОДИТЕЛЮ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Одна сводка — три точки внимания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Рабочий DEMO: счётчики из синтетических срезов, не реальные показатели бизнеса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60320"/>
            <a:ext cx="3383280" cy="1426464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2724912"/>
            <a:ext cx="2926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59DBD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383279"/>
            <a:ext cx="29260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BB5CC"/>
                </a:solidFill>
                <a:latin typeface="Arial"/>
              </a:defRPr>
            </a:pPr>
            <a:r>
              <a:t>клиент к проверке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560320"/>
            <a:ext cx="3383280" cy="1426464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724912"/>
            <a:ext cx="2926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84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383279"/>
            <a:ext cx="29260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BB5CC"/>
                </a:solidFill>
                <a:latin typeface="Arial"/>
              </a:defRPr>
            </a:pPr>
            <a:r>
              <a:t>заказ: затраты &gt; выручки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383280" cy="1426464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724912"/>
            <a:ext cx="292608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9C06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83279"/>
            <a:ext cx="29260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BB5CC"/>
                </a:solidFill>
                <a:latin typeface="Arial"/>
              </a:defRPr>
            </a:pPr>
            <a:r>
              <a:t>пакет документов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25112"/>
            <a:ext cx="10680192" cy="1243584"/>
          </a:xfrm>
          <a:prstGeom prst="roundRect">
            <a:avLst>
              <a:gd name="adj" fmla="val 14000"/>
            </a:avLst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626864"/>
            <a:ext cx="10149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5FAFF"/>
                </a:solidFill>
                <a:latin typeface="Arial"/>
              </a:defRPr>
            </a:pPr>
            <a:r>
              <a:t>Результат: три конкретных вопроса ответственным, а не автоприказ системе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10 / CRM И ПРОДАЖИ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Где потенциал после пилота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Не реализовано: нужны история исходов, согласованные роли и данные для оценки качества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FUTURE  /  не внедрено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Приоритет лидов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Измерять на размеченных конверсиях, а не назначать «горячих» на глаз.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Прогноз спроса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Строить интервалы только после проверки истории заказов.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578608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779776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Подсказка контакта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328415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Создавать черновик; отправку подтверждает человек.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11 / СКЛАД И ЗАКУПКИ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Умное пополнение — при наличии фактов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Стандартные модули есть, но подтверждённой истории остатков и сроков поставки нет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FUTURE  /  не внедрено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519379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464515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Дефицит / избыточный запас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4462272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Остатки + движения + сезонность → проверяемый прогноз риска.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578608"/>
            <a:ext cx="5221224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9944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779776"/>
            <a:ext cx="4672584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Качество поставщика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328415"/>
            <a:ext cx="4489704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Плановая и фактическая поставка → сигнал о задержке, не автозакупка.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12 / ФИНАНСЫ И КОММУНИКАЦИИ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Следующий контур автоматизации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Идеи каталога; конфиденциальность и права важнее скорости внедрения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FUTURE  /  не внедрено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519379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07208"/>
            <a:ext cx="64008" cy="347472"/>
          </a:xfrm>
          <a:prstGeom prst="rect">
            <a:avLst/>
          </a:prstGeom>
          <a:solidFill>
            <a:srgbClr val="F9C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464515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Cash flow и расходы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28415"/>
            <a:ext cx="4462272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После сверки финансовых записей — сценарные прогнозы и поиск выбросов.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578608"/>
            <a:ext cx="5221224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9944" y="280720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779776"/>
            <a:ext cx="4672584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Письма и 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328415"/>
            <a:ext cx="4489704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Только черновики и маршрутизация с разрешённым доступом и проверкой человека.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13 / ПУТЬ К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Начать с данных, а не с обещаний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Пилот начинается после решения открытых вопросов архитектуры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ROADMAP  /  требует согласования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06040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834640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07208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01  Проверить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55848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Объём, пропуски, валюты, роли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606040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834640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807208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02  Замерить качество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355848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Размеченные случаи и ложные сигналы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606040"/>
            <a:ext cx="3410712" cy="260604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834640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6207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FAFF"/>
                </a:solidFill>
                <a:latin typeface="Arial"/>
              </a:defRPr>
            </a:pPr>
            <a:r>
              <a:t>03  Подключить безопасно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355848"/>
            <a:ext cx="2679191" cy="1645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Read-only API, ACL и аудит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64008" cy="347472"/>
          </a:xfrm>
          <a:prstGeom prst="rect">
            <a:avLst/>
          </a:prstGeom>
          <a:solidFill>
            <a:srgbClr val="59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9DBD5"/>
                </a:solidFill>
                <a:latin typeface="Arial"/>
              </a:defRPr>
            </a:pPr>
            <a:r>
              <a:t>14 /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3300" b="1">
                <a:solidFill>
                  <a:srgbClr val="F5FAFF"/>
                </a:solidFill>
                <a:latin typeface="Arial"/>
              </a:defRPr>
            </a:pPr>
            <a:r>
              <a:t>Repka + Odoo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BB5CC"/>
                </a:solidFill>
                <a:latin typeface="Arial"/>
              </a:defRPr>
            </a:pPr>
            <a:r>
              <a:t>Intelligent Business Automation — как целевая архитектура, не как текущий production-статус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54496"/>
            <a:ext cx="10744200" cy="10972"/>
          </a:xfrm>
          <a:prstGeom prst="rect">
            <a:avLst/>
          </a:prstGeom>
          <a:solidFill>
            <a:srgbClr val="1C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38251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9BB5CC"/>
                </a:solidFill>
                <a:latin typeface="Arial"/>
              </a:defRPr>
            </a:pPr>
            <a:r>
              <a:t>REPKA   /   AI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373368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BB5CC"/>
                </a:solidFill>
                <a:latin typeface="Arial"/>
              </a:defRPr>
            </a:pPr>
            <a:r>
              <a:t>DEMO  /  проверяемые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373368"/>
            <a:ext cx="25603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59DBD5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487168"/>
            <a:ext cx="10643616" cy="2651760"/>
          </a:xfrm>
          <a:prstGeom prst="roundRect">
            <a:avLst>
              <a:gd name="adj" fmla="val 14000"/>
            </a:avLst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88920"/>
            <a:ext cx="9710928" cy="11887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AFF"/>
                </a:solidFill>
                <a:latin typeface="Arial"/>
              </a:defRPr>
            </a:pPr>
            <a:r>
              <a:t>Уже можно показать:</a:t>
            </a:r>
          </a:p>
          <a:p>
            <a:pPr algn="l">
              <a:spcAft>
                <a:spcPts val="600"/>
              </a:spcAft>
              <a:defRPr sz="2700" b="1">
                <a:solidFill>
                  <a:srgbClr val="F5FAFF"/>
                </a:solidFill>
                <a:latin typeface="Arial"/>
              </a:defRPr>
            </a:pPr>
            <a:r>
              <a:t>4 воспроизводимых сценария на синтетических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343400"/>
            <a:ext cx="978408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9DBD5"/>
                </a:solidFill>
                <a:latin typeface="Arial"/>
              </a:defRPr>
            </a:pPr>
            <a:r>
              <a:t>Дальше: подтвердить данные → измерить пользу → согласовать защищённый live-пилот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